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7" r:id="rId6"/>
    <p:sldId id="260" r:id="rId7"/>
    <p:sldId id="261" r:id="rId8"/>
    <p:sldId id="262" r:id="rId9"/>
    <p:sldId id="263" r:id="rId10"/>
    <p:sldId id="264" r:id="rId11"/>
    <p:sldId id="268" r:id="rId12"/>
    <p:sldId id="265"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q517A4ri04T+M+G6+id8quYIg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2FC537-3919-4DBA-9734-CEF26E9652B9}">
  <a:tblStyle styleId="{202FC537-3919-4DBA-9734-CEF26E9652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A711162-1238-45B3-99F9-6FDBFEF94C2C}"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4185743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h33278cd427ecde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h33278cd427ecde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165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823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h33278cd427ecde4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h33278cd427ecde4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453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909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5785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6191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8014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e52a62c7d0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e52a62c7d0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3180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ecdbbde9a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ecdbbde9a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1506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cdbbde9a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ecdbbde9a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498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8"/>
          <p:cNvGrpSpPr/>
          <p:nvPr/>
        </p:nvGrpSpPr>
        <p:grpSpPr>
          <a:xfrm>
            <a:off x="0" y="-8467"/>
            <a:ext cx="12192000" cy="6866467"/>
            <a:chOff x="0" y="-8467"/>
            <a:chExt cx="12192000" cy="6866467"/>
          </a:xfrm>
        </p:grpSpPr>
        <p:cxnSp>
          <p:nvCxnSpPr>
            <p:cNvPr id="24" name="Google Shape;24;p8"/>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5" name="Google Shape;25;p8"/>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26" name="Google Shape;26;p8"/>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27" name="Google Shape;27;p8"/>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8"/>
            <p:cNvSpPr/>
            <p:nvPr/>
          </p:nvSpPr>
          <p:spPr>
            <a:xfrm>
              <a:off x="8932333" y="3048000"/>
              <a:ext cx="3259667" cy="3810000"/>
            </a:xfrm>
            <a:prstGeom prst="triangle">
              <a:avLst>
                <a:gd name="adj" fmla="val 100000"/>
              </a:avLst>
            </a:prstGeom>
            <a:solidFill>
              <a:schemeClr val="accent2">
                <a:alpha val="72157"/>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8"/>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30" name="Google Shape;30;p8"/>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31" name="Google Shape;31;p8"/>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32" name="Google Shape;32;p8"/>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8"/>
            <p:cNvSpPr/>
            <p:nvPr/>
          </p:nvSpPr>
          <p:spPr>
            <a:xfrm rot="10800000">
              <a:off x="0" y="0"/>
              <a:ext cx="842596" cy="5666154"/>
            </a:xfrm>
            <a:prstGeom prst="triangle">
              <a:avLst>
                <a:gd name="adj" fmla="val 100000"/>
              </a:avLst>
            </a:prstGeom>
            <a:solidFill>
              <a:schemeClr val="accent1">
                <a:alpha val="85098"/>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8"/>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0"/>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11"/>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12"/>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12"/>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12"/>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15"/>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a:spLocks noGrp="1"/>
          </p:cNvSpPr>
          <p:nvPr>
            <p:ph type="pic" idx="2"/>
          </p:nvPr>
        </p:nvSpPr>
        <p:spPr>
          <a:xfrm>
            <a:off x="677334" y="609600"/>
            <a:ext cx="8596668" cy="3845718"/>
          </a:xfrm>
          <a:prstGeom prst="rect">
            <a:avLst/>
          </a:prstGeom>
          <a:noFill/>
          <a:ln>
            <a:noFill/>
          </a:ln>
        </p:spPr>
      </p:sp>
      <p:sp>
        <p:nvSpPr>
          <p:cNvPr id="86" name="Google Shape;86;p16"/>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8"/>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18"/>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Google Shape;103;p18"/>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
        <p:nvSpPr>
          <p:cNvPr id="104" name="Google Shape;104;p18"/>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sz="1800" b="0" i="0" u="none" strike="noStrike" cap="none">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9"/>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0"/>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20"/>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20"/>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
        <p:nvSpPr>
          <p:cNvPr id="119" name="Google Shape;119;p20"/>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1"/>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21"/>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2"/>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3"/>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7"/>
          <p:cNvGrpSpPr/>
          <p:nvPr/>
        </p:nvGrpSpPr>
        <p:grpSpPr>
          <a:xfrm>
            <a:off x="0" y="-8467"/>
            <a:ext cx="12192000" cy="6866467"/>
            <a:chOff x="0" y="-8467"/>
            <a:chExt cx="12192000" cy="6866467"/>
          </a:xfrm>
        </p:grpSpPr>
        <p:cxnSp>
          <p:nvCxnSpPr>
            <p:cNvPr id="7" name="Google Shape;7;p7"/>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8" name="Google Shape;8;p7"/>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9" name="Google Shape;9;p7"/>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0" name="Google Shape;10;p7"/>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7"/>
            <p:cNvSpPr/>
            <p:nvPr/>
          </p:nvSpPr>
          <p:spPr>
            <a:xfrm>
              <a:off x="8932333" y="3048000"/>
              <a:ext cx="3259667" cy="3810000"/>
            </a:xfrm>
            <a:prstGeom prst="triangle">
              <a:avLst>
                <a:gd name="adj" fmla="val 100000"/>
              </a:avLst>
            </a:prstGeom>
            <a:solidFill>
              <a:schemeClr val="accent2">
                <a:alpha val="72157"/>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7"/>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3" name="Google Shape;13;p7"/>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4" name="Google Shape;14;p7"/>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5" name="Google Shape;15;p7"/>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7"/>
            <p:cNvSpPr/>
            <p:nvPr/>
          </p:nvSpPr>
          <p:spPr>
            <a:xfrm>
              <a:off x="0" y="4013200"/>
              <a:ext cx="448733" cy="2844800"/>
            </a:xfrm>
            <a:prstGeom prst="triangle">
              <a:avLst>
                <a:gd name="adj" fmla="val 0"/>
              </a:avLst>
            </a:prstGeom>
            <a:solidFill>
              <a:schemeClr val="accent1">
                <a:alpha val="85098"/>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h33278cd427ecde4d_0_0"/>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5400"/>
              <a:buFont typeface="Trebuchet MS"/>
              <a:buNone/>
            </a:pPr>
            <a:r>
              <a:rPr lang="en-US"/>
              <a:t>Chemistry project work</a:t>
            </a:r>
            <a:endParaRPr/>
          </a:p>
        </p:txBody>
      </p:sp>
      <p:sp>
        <p:nvSpPr>
          <p:cNvPr id="144" name="Google Shape;144;h33278cd427ecde4d_0_0"/>
          <p:cNvSpPr txBox="1">
            <a:spLocks noGrp="1"/>
          </p:cNvSpPr>
          <p:nvPr>
            <p:ph type="subTitle" idx="1"/>
          </p:nvPr>
        </p:nvSpPr>
        <p:spPr>
          <a:xfrm>
            <a:off x="1581716" y="4175625"/>
            <a:ext cx="7767000" cy="1096800"/>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440"/>
              <a:buNone/>
            </a:pPr>
            <a:r>
              <a:rPr lang="en-US" dirty="0"/>
              <a:t>Effect of Temperature on the Solubility of Sugar in Water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Group member </a:t>
            </a:r>
            <a:endParaRPr/>
          </a:p>
        </p:txBody>
      </p:sp>
      <p:sp>
        <p:nvSpPr>
          <p:cNvPr id="150" name="Google Shape;150;p2"/>
          <p:cNvSpPr txBox="1">
            <a:spLocks noGrp="1"/>
          </p:cNvSpPr>
          <p:nvPr>
            <p:ph type="body" idx="1"/>
          </p:nvPr>
        </p:nvSpPr>
        <p:spPr>
          <a:xfrm>
            <a:off x="677334" y="2105889"/>
            <a:ext cx="8596800" cy="388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1. karma Rigden Dorji</a:t>
            </a:r>
            <a:endParaRPr/>
          </a:p>
          <a:p>
            <a:pPr marL="0" lvl="0" indent="0" algn="l" rtl="0">
              <a:spcBef>
                <a:spcPts val="1000"/>
              </a:spcBef>
              <a:spcAft>
                <a:spcPts val="0"/>
              </a:spcAft>
              <a:buSzPts val="1440"/>
              <a:buNone/>
            </a:pPr>
            <a:r>
              <a:rPr lang="en-US"/>
              <a:t>2. Nidup Dorji</a:t>
            </a:r>
            <a:endParaRPr/>
          </a:p>
          <a:p>
            <a:pPr marL="0" lvl="0" indent="0" algn="l" rtl="0">
              <a:spcBef>
                <a:spcPts val="1000"/>
              </a:spcBef>
              <a:spcAft>
                <a:spcPts val="0"/>
              </a:spcAft>
              <a:buSzPts val="1440"/>
              <a:buNone/>
            </a:pPr>
            <a:r>
              <a:rPr lang="en-US"/>
              <a:t>3. Tenzin norbu </a:t>
            </a:r>
            <a:endParaRPr/>
          </a:p>
          <a:p>
            <a:pPr marL="0" lvl="0" indent="0" algn="l" rtl="0">
              <a:spcBef>
                <a:spcPts val="1000"/>
              </a:spcBef>
              <a:spcAft>
                <a:spcPts val="0"/>
              </a:spcAft>
              <a:buSzPts val="1440"/>
              <a:buNone/>
            </a:pPr>
            <a:r>
              <a:rPr lang="en-US"/>
              <a:t>4. Sonam Dukpa</a:t>
            </a:r>
            <a:endParaRPr/>
          </a:p>
          <a:p>
            <a:pPr marL="0" lvl="0" indent="0" algn="l" rtl="0">
              <a:spcBef>
                <a:spcPts val="1000"/>
              </a:spcBef>
              <a:spcAft>
                <a:spcPts val="0"/>
              </a:spcAft>
              <a:buSzPts val="1440"/>
              <a:buNone/>
            </a:pPr>
            <a:r>
              <a:rPr lang="en-US"/>
              <a:t>5. Yukham gaylay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h33278cd427ecde4d_0_5"/>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Group member </a:t>
            </a:r>
            <a:endParaRPr/>
          </a:p>
        </p:txBody>
      </p:sp>
      <p:sp>
        <p:nvSpPr>
          <p:cNvPr id="156" name="Google Shape;156;h33278cd427ecde4d_0_5"/>
          <p:cNvSpPr txBox="1">
            <a:spLocks noGrp="1"/>
          </p:cNvSpPr>
          <p:nvPr>
            <p:ph type="body" idx="1"/>
          </p:nvPr>
        </p:nvSpPr>
        <p:spPr>
          <a:xfrm>
            <a:off x="677334" y="2105889"/>
            <a:ext cx="8596800" cy="388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a:t>1. karma Rigden Dorji</a:t>
            </a:r>
            <a:endParaRPr/>
          </a:p>
          <a:p>
            <a:pPr marL="0" lvl="0" indent="0" algn="l" rtl="0">
              <a:spcBef>
                <a:spcPts val="1000"/>
              </a:spcBef>
              <a:spcAft>
                <a:spcPts val="0"/>
              </a:spcAft>
              <a:buSzPts val="1440"/>
              <a:buNone/>
            </a:pPr>
            <a:r>
              <a:rPr lang="en-US"/>
              <a:t>2. Nidup Dorji</a:t>
            </a:r>
            <a:endParaRPr/>
          </a:p>
          <a:p>
            <a:pPr marL="0" lvl="0" indent="0" algn="l" rtl="0">
              <a:spcBef>
                <a:spcPts val="1000"/>
              </a:spcBef>
              <a:spcAft>
                <a:spcPts val="0"/>
              </a:spcAft>
              <a:buSzPts val="1440"/>
              <a:buNone/>
            </a:pPr>
            <a:r>
              <a:rPr lang="en-US"/>
              <a:t>3. Tenzin norbu </a:t>
            </a:r>
            <a:endParaRPr/>
          </a:p>
          <a:p>
            <a:pPr marL="0" lvl="0" indent="0" algn="l" rtl="0">
              <a:spcBef>
                <a:spcPts val="1000"/>
              </a:spcBef>
              <a:spcAft>
                <a:spcPts val="0"/>
              </a:spcAft>
              <a:buSzPts val="1440"/>
              <a:buNone/>
            </a:pPr>
            <a:r>
              <a:rPr lang="en-US"/>
              <a:t>4. Sonam Dukpa</a:t>
            </a:r>
            <a:endParaRPr/>
          </a:p>
          <a:p>
            <a:pPr marL="0" lvl="0" indent="0" algn="l" rtl="0">
              <a:spcBef>
                <a:spcPts val="1000"/>
              </a:spcBef>
              <a:spcAft>
                <a:spcPts val="0"/>
              </a:spcAft>
              <a:buSzPts val="1440"/>
              <a:buNone/>
            </a:pPr>
            <a:r>
              <a:rPr lang="en-US"/>
              <a:t>5. Yukham gaylay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Objectives </a:t>
            </a:r>
            <a:endParaRPr/>
          </a:p>
        </p:txBody>
      </p:sp>
      <p:sp>
        <p:nvSpPr>
          <p:cNvPr id="162" name="Google Shape;162;p3"/>
          <p:cNvSpPr txBox="1">
            <a:spLocks noGrp="1"/>
          </p:cNvSpPr>
          <p:nvPr>
            <p:ph type="body" idx="1"/>
          </p:nvPr>
        </p:nvSpPr>
        <p:spPr>
          <a:xfrm>
            <a:off x="766634" y="1488614"/>
            <a:ext cx="8596800" cy="3880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To study how temperature affects the solubility of sugar in water.</a:t>
            </a:r>
            <a:endParaRPr/>
          </a:p>
          <a:p>
            <a:pPr marL="342900" lvl="0" indent="-251460" algn="l" rtl="0">
              <a:spcBef>
                <a:spcPts val="1000"/>
              </a:spcBef>
              <a:spcAft>
                <a:spcPts val="0"/>
              </a:spcAft>
              <a:buSzPts val="1440"/>
              <a:buNone/>
            </a:pPr>
            <a:endParaRPr/>
          </a:p>
          <a:p>
            <a:pPr marL="0" lvl="0" indent="0" algn="l" rtl="0">
              <a:spcBef>
                <a:spcPts val="1000"/>
              </a:spcBef>
              <a:spcAft>
                <a:spcPts val="0"/>
              </a:spcAft>
              <a:buSzPts val="3520"/>
              <a:buNone/>
            </a:pPr>
            <a:r>
              <a:rPr lang="en-US" sz="4400"/>
              <a:t>Hypothesis</a:t>
            </a:r>
            <a:endParaRPr/>
          </a:p>
          <a:p>
            <a:pPr marL="0" lvl="0" indent="0" algn="l" rtl="0">
              <a:spcBef>
                <a:spcPts val="1000"/>
              </a:spcBef>
              <a:spcAft>
                <a:spcPts val="0"/>
              </a:spcAft>
              <a:buSzPts val="3520"/>
              <a:buNone/>
            </a:pPr>
            <a:r>
              <a:rPr lang="en-US" sz="4400"/>
              <a:t>- </a:t>
            </a:r>
            <a:r>
              <a:rPr lang="en-US"/>
              <a:t>If the temperature of water increases, then the solubility of sugar in water will also increase because hot water can dissolve more sugar than cold water.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information </a:t>
            </a:r>
            <a:endParaRPr lang="en-US" dirty="0"/>
          </a:p>
        </p:txBody>
      </p:sp>
      <p:sp>
        <p:nvSpPr>
          <p:cNvPr id="3" name="Text Placeholder 2"/>
          <p:cNvSpPr>
            <a:spLocks noGrp="1"/>
          </p:cNvSpPr>
          <p:nvPr>
            <p:ph type="body" idx="1"/>
          </p:nvPr>
        </p:nvSpPr>
        <p:spPr/>
        <p:txBody>
          <a:bodyPr/>
          <a:lstStyle/>
          <a:p>
            <a:r>
              <a:rPr lang="en-US" dirty="0"/>
              <a:t>Solubility is the maximum amount of a substance that can dissolve in a given amount of solvent at a particular temperature. Sugar is a solute, and water is a solvent. Temperature affects how much sugar can dissolve in water. As the temperature of water increases, more sugar can dissolve. Hot water also helps sugar dissolve faster than cold water because water molecules move more quickly. Therefore, the solubility of sugar increases with an increase in temperature.</a:t>
            </a:r>
          </a:p>
        </p:txBody>
      </p:sp>
    </p:spTree>
    <p:extLst>
      <p:ext uri="{BB962C8B-B14F-4D97-AF65-F5344CB8AC3E}">
        <p14:creationId xmlns:p14="http://schemas.microsoft.com/office/powerpoint/2010/main" val="3405222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Materials Required</a:t>
            </a:r>
            <a:endParaRPr/>
          </a:p>
        </p:txBody>
      </p:sp>
      <p:sp>
        <p:nvSpPr>
          <p:cNvPr id="168" name="Google Shape;168;p4"/>
          <p:cNvSpPr txBox="1">
            <a:spLocks noGrp="1"/>
          </p:cNvSpPr>
          <p:nvPr>
            <p:ph type="body" idx="1"/>
          </p:nvPr>
        </p:nvSpPr>
        <p:spPr>
          <a:xfrm>
            <a:off x="838200" y="2131250"/>
            <a:ext cx="6621300" cy="30477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None/>
            </a:pPr>
            <a:r>
              <a:rPr lang="en-US" sz="2400" b="0" i="0" u="none" strike="noStrike" cap="none">
                <a:solidFill>
                  <a:schemeClr val="dk1"/>
                </a:solidFill>
                <a:latin typeface="Arial"/>
                <a:ea typeface="Arial"/>
                <a:cs typeface="Arial"/>
                <a:sym typeface="Arial"/>
              </a:rPr>
              <a:t>-Sugar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Water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3 beakers or cups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Thermometer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Spoon or stirrer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Measuring cup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Heating source </a:t>
            </a:r>
            <a:endParaRPr/>
          </a:p>
          <a:p>
            <a:pPr marL="0" marR="0" lvl="0" indent="-1524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Balance or measuring spoon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Variables</a:t>
            </a:r>
            <a:endParaRPr/>
          </a:p>
        </p:txBody>
      </p:sp>
      <p:sp>
        <p:nvSpPr>
          <p:cNvPr id="174" name="Google Shape;174;p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b="1"/>
              <a:t>Independent Variable</a:t>
            </a:r>
            <a:endParaRPr/>
          </a:p>
          <a:p>
            <a:pPr marL="342900" lvl="0" indent="-342900" algn="l" rtl="0">
              <a:spcBef>
                <a:spcPts val="1000"/>
              </a:spcBef>
              <a:spcAft>
                <a:spcPts val="0"/>
              </a:spcAft>
              <a:buSzPts val="1440"/>
              <a:buChar char="►"/>
            </a:pPr>
            <a:r>
              <a:rPr lang="en-US"/>
              <a:t>Temperature of water</a:t>
            </a:r>
            <a:endParaRPr/>
          </a:p>
          <a:p>
            <a:pPr marL="342900" lvl="0" indent="-342900" algn="l" rtl="0">
              <a:spcBef>
                <a:spcPts val="1000"/>
              </a:spcBef>
              <a:spcAft>
                <a:spcPts val="0"/>
              </a:spcAft>
              <a:buSzPts val="1440"/>
              <a:buChar char="►"/>
            </a:pPr>
            <a:r>
              <a:rPr lang="en-US" b="1"/>
              <a:t>Dependent Variable</a:t>
            </a:r>
            <a:endParaRPr/>
          </a:p>
          <a:p>
            <a:pPr marL="342900" lvl="0" indent="-342900" algn="l" rtl="0">
              <a:spcBef>
                <a:spcPts val="1000"/>
              </a:spcBef>
              <a:spcAft>
                <a:spcPts val="0"/>
              </a:spcAft>
              <a:buSzPts val="1440"/>
              <a:buChar char="►"/>
            </a:pPr>
            <a:r>
              <a:rPr lang="en-US"/>
              <a:t>Amount of sugar dissolved</a:t>
            </a:r>
            <a:endParaRPr/>
          </a:p>
          <a:p>
            <a:pPr marL="342900" lvl="0" indent="-342900" algn="l" rtl="0">
              <a:spcBef>
                <a:spcPts val="1000"/>
              </a:spcBef>
              <a:spcAft>
                <a:spcPts val="0"/>
              </a:spcAft>
              <a:buSzPts val="1440"/>
              <a:buChar char="►"/>
            </a:pPr>
            <a:r>
              <a:rPr lang="en-US" b="1"/>
              <a:t>Controlled Variables</a:t>
            </a:r>
            <a:endParaRPr/>
          </a:p>
          <a:p>
            <a:pPr marL="342900" lvl="0" indent="-342900" algn="l" rtl="0">
              <a:spcBef>
                <a:spcPts val="1000"/>
              </a:spcBef>
              <a:spcAft>
                <a:spcPts val="0"/>
              </a:spcAft>
              <a:buSzPts val="1440"/>
              <a:buChar char="►"/>
            </a:pPr>
            <a:r>
              <a:rPr lang="en-US"/>
              <a:t>Amount of water </a:t>
            </a:r>
            <a:endParaRPr/>
          </a:p>
          <a:p>
            <a:pPr marL="342900" lvl="0" indent="-342900" algn="l" rtl="0">
              <a:spcBef>
                <a:spcPts val="1000"/>
              </a:spcBef>
              <a:spcAft>
                <a:spcPts val="0"/>
              </a:spcAft>
              <a:buSzPts val="1440"/>
              <a:buChar char="►"/>
            </a:pPr>
            <a:r>
              <a:rPr lang="en-US"/>
              <a:t>Type of sugar </a:t>
            </a:r>
            <a:endParaRPr/>
          </a:p>
          <a:p>
            <a:pPr marL="342900" lvl="0" indent="-342900" algn="l" rtl="0">
              <a:spcBef>
                <a:spcPts val="1000"/>
              </a:spcBef>
              <a:spcAft>
                <a:spcPts val="0"/>
              </a:spcAft>
              <a:buSzPts val="1440"/>
              <a:buChar char="►"/>
            </a:pPr>
            <a:r>
              <a:rPr lang="en-US"/>
              <a:t>Stirring time </a:t>
            </a:r>
            <a:endParaRPr/>
          </a:p>
          <a:p>
            <a:pPr marL="342900" lvl="0" indent="-342900" algn="l" rtl="0">
              <a:spcBef>
                <a:spcPts val="1000"/>
              </a:spcBef>
              <a:spcAft>
                <a:spcPts val="0"/>
              </a:spcAft>
              <a:buSzPts val="1440"/>
              <a:buChar char="►"/>
            </a:pPr>
            <a:r>
              <a:rPr lang="en-US"/>
              <a:t>Container size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dirty="0"/>
              <a:t>Procedure</a:t>
            </a:r>
            <a:endParaRPr dirty="0"/>
          </a:p>
        </p:txBody>
      </p:sp>
      <p:sp>
        <p:nvSpPr>
          <p:cNvPr id="180" name="Google Shape;180;p6"/>
          <p:cNvSpPr txBox="1">
            <a:spLocks noGrp="1"/>
          </p:cNvSpPr>
          <p:nvPr>
            <p:ph type="body" idx="1"/>
          </p:nvPr>
        </p:nvSpPr>
        <p:spPr>
          <a:xfrm>
            <a:off x="677334" y="1688953"/>
            <a:ext cx="10668300" cy="409338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F3F3F"/>
              </a:buClr>
              <a:buSzPts val="1800"/>
              <a:buFont typeface="Trebuchet MS"/>
              <a:buNone/>
            </a:pP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None/>
            </a:pPr>
            <a:r>
              <a:rPr lang="en-US" sz="2800" dirty="0">
                <a:solidFill>
                  <a:schemeClr val="dk1"/>
                </a:solidFill>
                <a:latin typeface="Arial"/>
                <a:ea typeface="Arial"/>
                <a:cs typeface="Arial"/>
                <a:sym typeface="Arial"/>
              </a:rPr>
              <a:t> </a:t>
            </a:r>
            <a:r>
              <a:rPr lang="en-US" sz="2800" b="0" i="0" u="none" strike="noStrike" cap="none" dirty="0" smtClean="0">
                <a:solidFill>
                  <a:schemeClr val="dk1"/>
                </a:solidFill>
                <a:latin typeface="Arial"/>
                <a:ea typeface="Arial"/>
                <a:cs typeface="Arial"/>
                <a:sym typeface="Arial"/>
              </a:rPr>
              <a:t>1</a:t>
            </a:r>
            <a:r>
              <a:rPr lang="en-US" sz="2800" b="0" i="0" u="none" strike="noStrike" cap="none" dirty="0">
                <a:solidFill>
                  <a:schemeClr val="dk1"/>
                </a:solidFill>
                <a:latin typeface="Arial"/>
                <a:ea typeface="Arial"/>
                <a:cs typeface="Arial"/>
                <a:sym typeface="Arial"/>
              </a:rPr>
              <a:t>. Take equal amounts of water in three beakers. </a:t>
            </a:r>
            <a:endParaRPr lang="en-US" sz="2800" b="0" i="0" u="none" strike="noStrike" cap="none" dirty="0" smtClean="0">
              <a:solidFill>
                <a:schemeClr val="dk1"/>
              </a:solidFill>
              <a:latin typeface="Arial"/>
              <a:ea typeface="Arial"/>
              <a:cs typeface="Arial"/>
              <a:sym typeface="Arial"/>
            </a:endParaRPr>
          </a:p>
          <a:p>
            <a:pPr marL="0" lvl="0" indent="0">
              <a:spcBef>
                <a:spcPts val="0"/>
              </a:spcBef>
              <a:buClr>
                <a:schemeClr val="dk1"/>
              </a:buClr>
              <a:buSzPts val="2800"/>
              <a:buNone/>
            </a:pPr>
            <a:r>
              <a:rPr lang="en-US" sz="2800" b="0" i="0" u="none" strike="noStrike" cap="none" dirty="0" smtClean="0">
                <a:solidFill>
                  <a:schemeClr val="dk1"/>
                </a:solidFill>
                <a:latin typeface="Arial"/>
                <a:ea typeface="Arial"/>
                <a:cs typeface="Arial"/>
                <a:sym typeface="Arial"/>
              </a:rPr>
              <a:t> 2</a:t>
            </a:r>
            <a:r>
              <a:rPr lang="en-US" sz="2800" b="0" i="0" u="none" strike="noStrike" cap="none" dirty="0">
                <a:solidFill>
                  <a:schemeClr val="dk1"/>
                </a:solidFill>
                <a:latin typeface="Arial"/>
                <a:ea typeface="Arial"/>
                <a:cs typeface="Arial"/>
                <a:sym typeface="Arial"/>
              </a:rPr>
              <a:t>. Keep one beaker cold, one at room temperature, and one hot</a:t>
            </a:r>
            <a:r>
              <a:rPr lang="en-US" sz="2800" b="0" i="0" u="none" strike="noStrike" cap="none" dirty="0" smtClean="0">
                <a:solidFill>
                  <a:schemeClr val="dk1"/>
                </a:solidFill>
                <a:latin typeface="Arial"/>
                <a:ea typeface="Arial"/>
                <a:cs typeface="Arial"/>
                <a:sym typeface="Arial"/>
              </a:rPr>
              <a:t>.</a:t>
            </a:r>
          </a:p>
          <a:p>
            <a:pPr marL="0" lvl="0" indent="0">
              <a:spcBef>
                <a:spcPts val="0"/>
              </a:spcBef>
              <a:buClr>
                <a:schemeClr val="dk1"/>
              </a:buClr>
              <a:buSzPts val="2800"/>
              <a:buNone/>
            </a:pPr>
            <a:r>
              <a:rPr lang="en-US" sz="2800" b="0" i="0" u="none" strike="noStrike" cap="none" dirty="0" smtClean="0">
                <a:solidFill>
                  <a:schemeClr val="dk1"/>
                </a:solidFill>
                <a:latin typeface="Arial"/>
                <a:ea typeface="Arial"/>
                <a:cs typeface="Arial"/>
                <a:sym typeface="Arial"/>
              </a:rPr>
              <a:t> 3</a:t>
            </a:r>
            <a:r>
              <a:rPr lang="en-US" sz="2800" b="0" i="0" u="none" strike="noStrike" cap="none" dirty="0">
                <a:solidFill>
                  <a:schemeClr val="dk1"/>
                </a:solidFill>
                <a:latin typeface="Arial"/>
                <a:ea typeface="Arial"/>
                <a:cs typeface="Arial"/>
                <a:sym typeface="Arial"/>
              </a:rPr>
              <a:t>. Measure the temperature of each beaker. </a:t>
            </a:r>
            <a:endParaRPr lang="en-US" sz="2800" b="0" i="0" u="none" strike="noStrike" cap="none" dirty="0" smtClean="0">
              <a:solidFill>
                <a:schemeClr val="dk1"/>
              </a:solidFill>
              <a:latin typeface="Arial"/>
              <a:ea typeface="Arial"/>
              <a:cs typeface="Arial"/>
              <a:sym typeface="Arial"/>
            </a:endParaRPr>
          </a:p>
          <a:p>
            <a:pPr marL="0" lvl="0" indent="0">
              <a:spcBef>
                <a:spcPts val="0"/>
              </a:spcBef>
              <a:buClr>
                <a:schemeClr val="dk1"/>
              </a:buClr>
              <a:buSzPts val="2800"/>
              <a:buNone/>
            </a:pPr>
            <a:r>
              <a:rPr lang="en-US" sz="2800" dirty="0" smtClean="0">
                <a:solidFill>
                  <a:schemeClr val="dk1"/>
                </a:solidFill>
                <a:latin typeface="Arial"/>
                <a:ea typeface="Arial"/>
                <a:cs typeface="Arial"/>
                <a:sym typeface="Arial"/>
              </a:rPr>
              <a:t> 4</a:t>
            </a:r>
            <a:r>
              <a:rPr lang="en-US" sz="2800" dirty="0">
                <a:solidFill>
                  <a:schemeClr val="dk1"/>
                </a:solidFill>
                <a:latin typeface="Arial"/>
                <a:ea typeface="Arial"/>
                <a:cs typeface="Arial"/>
                <a:sym typeface="Arial"/>
              </a:rPr>
              <a:t>. </a:t>
            </a:r>
            <a:r>
              <a:rPr lang="en-US" sz="2800" b="0" i="0" u="none" strike="noStrike" cap="none" dirty="0">
                <a:solidFill>
                  <a:schemeClr val="dk1"/>
                </a:solidFill>
                <a:latin typeface="Arial"/>
                <a:ea typeface="Arial"/>
                <a:cs typeface="Arial"/>
                <a:sym typeface="Arial"/>
              </a:rPr>
              <a:t>Add sugar slowly to each beaker while stirring. </a:t>
            </a:r>
            <a:endParaRPr lang="en-US" sz="2800" b="0" i="0" u="none" strike="noStrike" cap="none" dirty="0" smtClean="0">
              <a:solidFill>
                <a:schemeClr val="dk1"/>
              </a:solidFill>
              <a:latin typeface="Arial"/>
              <a:ea typeface="Arial"/>
              <a:cs typeface="Arial"/>
              <a:sym typeface="Arial"/>
            </a:endParaRPr>
          </a:p>
          <a:p>
            <a:pPr marL="0" lvl="0" indent="0">
              <a:spcBef>
                <a:spcPts val="0"/>
              </a:spcBef>
              <a:buClr>
                <a:schemeClr val="dk1"/>
              </a:buClr>
              <a:buSzPts val="2800"/>
              <a:buNone/>
            </a:pPr>
            <a:r>
              <a:rPr lang="en-US" sz="2800" b="0" i="0" u="none" strike="noStrike" cap="none" dirty="0" smtClean="0">
                <a:solidFill>
                  <a:schemeClr val="dk1"/>
                </a:solidFill>
                <a:latin typeface="Arial"/>
                <a:ea typeface="Arial"/>
                <a:cs typeface="Arial"/>
                <a:sym typeface="Arial"/>
              </a:rPr>
              <a:t> 5. Continue adding sugar until no more dissolves.</a:t>
            </a:r>
          </a:p>
          <a:p>
            <a:pPr marL="0" lvl="0" indent="-177800">
              <a:spcBef>
                <a:spcPts val="0"/>
              </a:spcBef>
              <a:buClr>
                <a:schemeClr val="dk1"/>
              </a:buClr>
              <a:buSzPts val="2800"/>
              <a:buFont typeface="Arial"/>
              <a:buChar char="•"/>
            </a:pPr>
            <a:r>
              <a:rPr lang="en-US" sz="2800" dirty="0">
                <a:solidFill>
                  <a:schemeClr val="dk1"/>
                </a:solidFill>
                <a:latin typeface="Arial"/>
                <a:ea typeface="Arial"/>
                <a:cs typeface="Arial"/>
                <a:sym typeface="Arial"/>
              </a:rPr>
              <a:t> 6. Record the amount of sugar dissolved in each beaker. </a:t>
            </a:r>
            <a:endParaRPr lang="en-US" sz="2800" dirty="0"/>
          </a:p>
          <a:p>
            <a:pPr marL="0" lvl="0" indent="-177800">
              <a:spcBef>
                <a:spcPts val="0"/>
              </a:spcBef>
              <a:buClr>
                <a:schemeClr val="dk1"/>
              </a:buClr>
              <a:buSzPts val="2800"/>
              <a:buFont typeface="Arial"/>
              <a:buChar char="•"/>
            </a:pPr>
            <a:r>
              <a:rPr lang="en-US" sz="2800" dirty="0">
                <a:solidFill>
                  <a:schemeClr val="dk1"/>
                </a:solidFill>
                <a:latin typeface="Arial"/>
                <a:ea typeface="Arial"/>
                <a:cs typeface="Arial"/>
                <a:sym typeface="Arial"/>
              </a:rPr>
              <a:t> 7. Compare the results. </a:t>
            </a:r>
            <a:endParaRPr lang="en-US" sz="2800" dirty="0"/>
          </a:p>
          <a:p>
            <a:pPr marL="0" lvl="0" indent="0">
              <a:spcBef>
                <a:spcPts val="0"/>
              </a:spcBef>
              <a:buClr>
                <a:schemeClr val="dk1"/>
              </a:buClr>
              <a:buSzPts val="2800"/>
              <a:buNone/>
            </a:pPr>
            <a:endParaRPr lang="en-US" sz="2800" b="0" i="0" u="none" strike="noStrike" cap="none" dirty="0" smtClean="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8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e52a62c7d0_5_0"/>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solidFill>
                  <a:srgbClr val="90C226"/>
                </a:solidFill>
              </a:rPr>
              <a:t>Observation table </a:t>
            </a:r>
            <a:endParaRPr/>
          </a:p>
        </p:txBody>
      </p:sp>
      <p:sp>
        <p:nvSpPr>
          <p:cNvPr id="186" name="Google Shape;186;g3e52a62c7d0_5_0"/>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endParaRPr b="1">
              <a:solidFill>
                <a:srgbClr val="FFFFFF"/>
              </a:solidFill>
            </a:endParaRPr>
          </a:p>
          <a:p>
            <a:pPr marL="0" lvl="0" indent="0" algn="l" rtl="0">
              <a:lnSpc>
                <a:spcPct val="115000"/>
              </a:lnSpc>
              <a:spcBef>
                <a:spcPts val="0"/>
              </a:spcBef>
              <a:spcAft>
                <a:spcPts val="0"/>
              </a:spcAft>
              <a:buNone/>
            </a:pPr>
            <a:r>
              <a:rPr lang="en-US" b="1">
                <a:solidFill>
                  <a:srgbClr val="FFFFFF"/>
                </a:solidFill>
              </a:rPr>
              <a:t>Temperature </a:t>
            </a:r>
            <a:endParaRPr/>
          </a:p>
        </p:txBody>
      </p:sp>
      <p:graphicFrame>
        <p:nvGraphicFramePr>
          <p:cNvPr id="187" name="Google Shape;187;g3e52a62c7d0_5_0"/>
          <p:cNvGraphicFramePr/>
          <p:nvPr>
            <p:extLst>
              <p:ext uri="{D42A27DB-BD31-4B8C-83A1-F6EECF244321}">
                <p14:modId xmlns:p14="http://schemas.microsoft.com/office/powerpoint/2010/main" val="628930938"/>
              </p:ext>
            </p:extLst>
          </p:nvPr>
        </p:nvGraphicFramePr>
        <p:xfrm>
          <a:off x="283116" y="2623227"/>
          <a:ext cx="10287000" cy="2267622"/>
        </p:xfrm>
        <a:graphic>
          <a:graphicData uri="http://schemas.openxmlformats.org/drawingml/2006/table">
            <a:tbl>
              <a:tblPr>
                <a:noFill/>
                <a:tableStyleId>{202FC537-3919-4DBA-9734-CEF26E9652B9}</a:tableStyleId>
              </a:tblPr>
              <a:tblGrid>
                <a:gridCol w="3429000"/>
                <a:gridCol w="3429000"/>
                <a:gridCol w="3429000"/>
              </a:tblGrid>
              <a:tr h="381000">
                <a:tc>
                  <a:txBody>
                    <a:bodyPr/>
                    <a:lstStyle/>
                    <a:p>
                      <a:pPr marL="0" lvl="0" indent="0" algn="l" rtl="0">
                        <a:lnSpc>
                          <a:spcPct val="115000"/>
                        </a:lnSpc>
                        <a:spcBef>
                          <a:spcPts val="0"/>
                        </a:spcBef>
                        <a:spcAft>
                          <a:spcPts val="0"/>
                        </a:spcAft>
                        <a:buClr>
                          <a:schemeClr val="dk1"/>
                        </a:buClr>
                        <a:buSzPts val="1100"/>
                        <a:buFont typeface="Arial"/>
                        <a:buNone/>
                      </a:pPr>
                      <a:r>
                        <a:rPr lang="en-US" sz="1800" b="1" dirty="0">
                          <a:solidFill>
                            <a:srgbClr val="FFFFFF"/>
                          </a:solidFill>
                          <a:latin typeface="Trebuchet MS"/>
                          <a:ea typeface="Trebuchet MS"/>
                          <a:cs typeface="Trebuchet MS"/>
                          <a:sym typeface="Trebuchet MS"/>
                        </a:rPr>
                        <a:t>Beaker</a:t>
                      </a:r>
                      <a:endParaRPr sz="1800" b="1" dirty="0">
                        <a:solidFill>
                          <a:srgbClr val="FFFFFF"/>
                        </a:solidFill>
                        <a:latin typeface="Trebuchet MS"/>
                        <a:ea typeface="Trebuchet MS"/>
                        <a:cs typeface="Trebuchet MS"/>
                        <a:sym typeface="Trebuchet MS"/>
                      </a:endParaRPr>
                    </a:p>
                    <a:p>
                      <a:pPr marL="0" lvl="0" indent="0" algn="l" rtl="0">
                        <a:lnSpc>
                          <a:spcPct val="115000"/>
                        </a:lnSpc>
                        <a:spcBef>
                          <a:spcPts val="0"/>
                        </a:spcBef>
                        <a:spcAft>
                          <a:spcPts val="0"/>
                        </a:spcAft>
                        <a:buNone/>
                      </a:pPr>
                      <a:endParaRPr dirty="0"/>
                    </a:p>
                  </a:txBody>
                  <a:tcPr marL="91425" marR="91425" marT="91425" marB="91425">
                    <a:lnL w="9525" cap="flat" cmpd="sng">
                      <a:solidFill>
                        <a:srgbClr val="3F3F3F"/>
                      </a:solidFill>
                      <a:prstDash val="solid"/>
                      <a:round/>
                      <a:headEnd type="none" w="sm" len="sm"/>
                      <a:tailEnd type="none" w="sm" len="sm"/>
                    </a:lnL>
                    <a:lnR w="9525" cap="flat" cmpd="sng">
                      <a:solidFill>
                        <a:srgbClr val="3F3F3F"/>
                      </a:solidFill>
                      <a:prstDash val="solid"/>
                      <a:round/>
                      <a:headEnd type="none" w="sm" len="sm"/>
                      <a:tailEnd type="none" w="sm" len="sm"/>
                    </a:lnR>
                    <a:lnT w="9525" cap="flat" cmpd="sng">
                      <a:solidFill>
                        <a:srgbClr val="3F3F3F"/>
                      </a:solidFill>
                      <a:prstDash val="solid"/>
                      <a:round/>
                      <a:headEnd type="none" w="sm" len="sm"/>
                      <a:tailEnd type="none" w="sm" len="sm"/>
                    </a:lnT>
                    <a:lnB w="9525" cap="flat" cmpd="sng">
                      <a:solidFill>
                        <a:srgbClr val="3F3F3F"/>
                      </a:solidFill>
                      <a:prstDash val="solid"/>
                      <a:round/>
                      <a:headEnd type="none" w="sm" len="sm"/>
                      <a:tailEnd type="none" w="sm" len="sm"/>
                    </a:lnB>
                    <a:solidFill>
                      <a:srgbClr val="3F3F3F"/>
                    </a:solidFill>
                  </a:tcPr>
                </a:tc>
                <a:tc>
                  <a:txBody>
                    <a:bodyPr/>
                    <a:lstStyle/>
                    <a:p>
                      <a:pPr marL="0" lvl="0" indent="0" algn="l" rtl="0">
                        <a:lnSpc>
                          <a:spcPct val="115000"/>
                        </a:lnSpc>
                        <a:spcBef>
                          <a:spcPts val="0"/>
                        </a:spcBef>
                        <a:spcAft>
                          <a:spcPts val="0"/>
                        </a:spcAft>
                        <a:buClr>
                          <a:schemeClr val="dk1"/>
                        </a:buClr>
                        <a:buSzPts val="1100"/>
                        <a:buFont typeface="Arial"/>
                        <a:buNone/>
                      </a:pPr>
                      <a:r>
                        <a:rPr lang="en-US" sz="1800" b="1">
                          <a:solidFill>
                            <a:srgbClr val="FFFFFF"/>
                          </a:solidFill>
                          <a:latin typeface="Trebuchet MS"/>
                          <a:ea typeface="Trebuchet MS"/>
                          <a:cs typeface="Trebuchet MS"/>
                          <a:sym typeface="Trebuchet MS"/>
                        </a:rPr>
                        <a:t>Temperature (°C)</a:t>
                      </a:r>
                      <a:endParaRPr sz="1800" b="1">
                        <a:solidFill>
                          <a:srgbClr val="FFFFFF"/>
                        </a:solidFill>
                        <a:latin typeface="Trebuchet MS"/>
                        <a:ea typeface="Trebuchet MS"/>
                        <a:cs typeface="Trebuchet MS"/>
                        <a:sym typeface="Trebuchet MS"/>
                      </a:endParaRPr>
                    </a:p>
                    <a:p>
                      <a:pPr marL="0" lvl="0" indent="0" algn="l" rtl="0">
                        <a:spcBef>
                          <a:spcPts val="0"/>
                        </a:spcBef>
                        <a:spcAft>
                          <a:spcPts val="0"/>
                        </a:spcAft>
                        <a:buNone/>
                      </a:pPr>
                      <a:endParaRPr/>
                    </a:p>
                  </a:txBody>
                  <a:tcPr marL="91425" marR="91425" marT="91425" marB="91425">
                    <a:lnL w="9525" cap="flat" cmpd="sng">
                      <a:solidFill>
                        <a:srgbClr val="3F3F3F"/>
                      </a:solidFill>
                      <a:prstDash val="solid"/>
                      <a:round/>
                      <a:headEnd type="none" w="sm" len="sm"/>
                      <a:tailEnd type="none" w="sm" len="sm"/>
                    </a:lnL>
                    <a:solidFill>
                      <a:srgbClr val="3F3F3F"/>
                    </a:solidFill>
                  </a:tcPr>
                </a:tc>
                <a:tc>
                  <a:txBody>
                    <a:bodyPr/>
                    <a:lstStyle/>
                    <a:p>
                      <a:pPr marL="0" lvl="0" indent="0" algn="l" rtl="0">
                        <a:lnSpc>
                          <a:spcPct val="115000"/>
                        </a:lnSpc>
                        <a:spcBef>
                          <a:spcPts val="0"/>
                        </a:spcBef>
                        <a:spcAft>
                          <a:spcPts val="0"/>
                        </a:spcAft>
                        <a:buClr>
                          <a:schemeClr val="dk1"/>
                        </a:buClr>
                        <a:buSzPts val="1100"/>
                        <a:buFont typeface="Arial"/>
                        <a:buNone/>
                      </a:pPr>
                      <a:r>
                        <a:rPr lang="en-US" sz="1800" b="1" dirty="0">
                          <a:solidFill>
                            <a:srgbClr val="FFFFFF"/>
                          </a:solidFill>
                          <a:latin typeface="Trebuchet MS"/>
                          <a:ea typeface="Trebuchet MS"/>
                          <a:cs typeface="Trebuchet MS"/>
                          <a:sym typeface="Trebuchet MS"/>
                        </a:rPr>
                        <a:t>Amount of Sugar Dissolved</a:t>
                      </a:r>
                      <a:endParaRPr sz="1800" b="1" dirty="0">
                        <a:solidFill>
                          <a:srgbClr val="FFFFFF"/>
                        </a:solidFill>
                        <a:latin typeface="Trebuchet MS"/>
                        <a:ea typeface="Trebuchet MS"/>
                        <a:cs typeface="Trebuchet MS"/>
                        <a:sym typeface="Trebuchet MS"/>
                      </a:endParaRPr>
                    </a:p>
                    <a:p>
                      <a:pPr marL="0" lvl="0" indent="0" algn="l" rtl="0">
                        <a:spcBef>
                          <a:spcPts val="0"/>
                        </a:spcBef>
                        <a:spcAft>
                          <a:spcPts val="0"/>
                        </a:spcAft>
                        <a:buNone/>
                      </a:pPr>
                      <a:endParaRPr dirty="0"/>
                    </a:p>
                  </a:txBody>
                  <a:tcPr marL="91425" marR="91425" marT="91425" marB="91425">
                    <a:solidFill>
                      <a:srgbClr val="3F3F3F"/>
                    </a:solidFill>
                  </a:tcPr>
                </a:tc>
              </a:tr>
              <a:tr h="381000">
                <a:tc>
                  <a:txBody>
                    <a:bodyPr/>
                    <a:lstStyle/>
                    <a:p>
                      <a:pPr marL="0" lvl="0" indent="0" algn="l" rtl="0">
                        <a:spcBef>
                          <a:spcPts val="0"/>
                        </a:spcBef>
                        <a:spcAft>
                          <a:spcPts val="0"/>
                        </a:spcAft>
                        <a:buNone/>
                      </a:pPr>
                      <a:r>
                        <a:rPr lang="en-US" dirty="0" smtClean="0"/>
                        <a:t>A    cold</a:t>
                      </a:r>
                      <a:r>
                        <a:rPr lang="en-US" baseline="0" dirty="0" smtClean="0"/>
                        <a:t> water </a:t>
                      </a:r>
                      <a:endParaRPr dirty="0"/>
                    </a:p>
                  </a:txBody>
                  <a:tcPr marL="91425" marR="91425" marT="91425" marB="91425">
                    <a:lnT w="9525" cap="flat" cmpd="sng">
                      <a:solidFill>
                        <a:srgbClr val="3F3F3F"/>
                      </a:solidFill>
                      <a:prstDash val="solid"/>
                      <a:round/>
                      <a:headEnd type="none" w="sm" len="sm"/>
                      <a:tailEnd type="none" w="sm" len="sm"/>
                    </a:lnT>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20°C</a:t>
                      </a:r>
                    </a:p>
                    <a:p>
                      <a:endParaRPr lang="en-US" dirty="0"/>
                    </a:p>
                  </a:txBody>
                  <a:tcPr anchor="ctr"/>
                </a:tc>
                <a:tc>
                  <a:txBody>
                    <a:bodyPr/>
                    <a:lstStyle/>
                    <a:p>
                      <a:r>
                        <a:rPr lang="en-US" dirty="0" smtClean="0"/>
                        <a:t>20g</a:t>
                      </a:r>
                      <a:endParaRPr lang="en-US" dirty="0"/>
                    </a:p>
                  </a:txBody>
                  <a:tcPr anchor="ctr"/>
                </a:tc>
              </a:tr>
              <a:tr h="381000">
                <a:tc>
                  <a:txBody>
                    <a:bodyPr/>
                    <a:lstStyle/>
                    <a:p>
                      <a:pPr marL="0" lvl="0" indent="0" algn="l" rtl="0">
                        <a:spcBef>
                          <a:spcPts val="0"/>
                        </a:spcBef>
                        <a:spcAft>
                          <a:spcPts val="0"/>
                        </a:spcAft>
                        <a:buNone/>
                      </a:pPr>
                      <a:r>
                        <a:rPr lang="en-US" dirty="0" smtClean="0"/>
                        <a:t>B    normal  water </a:t>
                      </a:r>
                      <a:endParaRPr dirty="0"/>
                    </a:p>
                  </a:txBody>
                  <a:tcPr marL="91425" marR="91425" marT="91425" marB="91425"/>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40°C</a:t>
                      </a:r>
                      <a:endParaRPr lang="en-US" dirty="0" smtClean="0"/>
                    </a:p>
                  </a:txBody>
                  <a:tcPr marL="91425" marR="91425" marT="91425" marB="91425"/>
                </a:tc>
                <a:tc>
                  <a:txBody>
                    <a:bodyPr/>
                    <a:lstStyle/>
                    <a:p>
                      <a:pPr marL="0" lvl="0" indent="0" algn="l" rtl="0">
                        <a:spcBef>
                          <a:spcPts val="0"/>
                        </a:spcBef>
                        <a:spcAft>
                          <a:spcPts val="0"/>
                        </a:spcAft>
                        <a:buNone/>
                      </a:pPr>
                      <a:r>
                        <a:rPr lang="en-US" dirty="0" smtClean="0"/>
                        <a:t>35 g</a:t>
                      </a:r>
                      <a:endParaRPr dirty="0"/>
                    </a:p>
                  </a:txBody>
                  <a:tcPr marL="91425" marR="91425" marT="91425" marB="91425"/>
                </a:tc>
              </a:tr>
              <a:tr h="381000">
                <a:tc>
                  <a:txBody>
                    <a:bodyPr/>
                    <a:lstStyle/>
                    <a:p>
                      <a:pPr marL="0" lvl="0" indent="0" algn="l" rtl="0">
                        <a:spcBef>
                          <a:spcPts val="0"/>
                        </a:spcBef>
                        <a:spcAft>
                          <a:spcPts val="0"/>
                        </a:spcAft>
                        <a:buNone/>
                      </a:pPr>
                      <a:r>
                        <a:rPr lang="en-US" dirty="0" smtClean="0"/>
                        <a:t>C    hot water </a:t>
                      </a:r>
                      <a:endParaRPr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60°C</a:t>
                      </a:r>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dirty="0" smtClean="0"/>
                        <a:t>50g</a:t>
                      </a:r>
                      <a:endParaRPr dirty="0"/>
                    </a:p>
                  </a:txBody>
                  <a:tcPr marL="91425" marR="91425" marT="91425" marB="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ecdbbde9a2_0_6"/>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solidFill>
                  <a:srgbClr val="90C226"/>
                </a:solidFill>
              </a:rPr>
              <a:t>Conclusion </a:t>
            </a:r>
            <a:endParaRPr/>
          </a:p>
        </p:txBody>
      </p:sp>
      <p:sp>
        <p:nvSpPr>
          <p:cNvPr id="193" name="Google Shape;193;g3ecdbbde9a2_0_6"/>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457200" lvl="0" indent="-320040" algn="l" rtl="0">
              <a:lnSpc>
                <a:spcPct val="115000"/>
              </a:lnSpc>
              <a:spcBef>
                <a:spcPts val="1000"/>
              </a:spcBef>
              <a:spcAft>
                <a:spcPts val="0"/>
              </a:spcAft>
              <a:buClr>
                <a:srgbClr val="404040"/>
              </a:buClr>
              <a:buSzPts val="1440"/>
              <a:buChar char="-"/>
            </a:pPr>
            <a:r>
              <a:rPr lang="en-US">
                <a:solidFill>
                  <a:srgbClr val="404040"/>
                </a:solidFill>
              </a:rPr>
              <a:t>The experimental shows the increasing the temperature increases   solubility of in sugar in water.</a:t>
            </a:r>
            <a:endParaRPr>
              <a:solidFill>
                <a:srgbClr val="404040"/>
              </a:solidFill>
            </a:endParaRPr>
          </a:p>
          <a:p>
            <a:pPr marL="0" lvl="0" indent="0" algn="l" rtl="0">
              <a:spcBef>
                <a:spcPts val="100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a:t>
            </a:r>
            <a:r>
              <a:rPr lang="en-US" dirty="0" smtClean="0"/>
              <a:t>question and answer</a:t>
            </a:r>
            <a:endParaRPr lang="en-US" dirty="0"/>
          </a:p>
        </p:txBody>
      </p:sp>
      <p:sp>
        <p:nvSpPr>
          <p:cNvPr id="3" name="Text Placeholder 2"/>
          <p:cNvSpPr>
            <a:spLocks noGrp="1"/>
          </p:cNvSpPr>
          <p:nvPr>
            <p:ph type="body" idx="1"/>
          </p:nvPr>
        </p:nvSpPr>
        <p:spPr/>
        <p:txBody>
          <a:bodyPr>
            <a:normAutofit fontScale="47500" lnSpcReduction="20000"/>
          </a:bodyPr>
          <a:lstStyle/>
          <a:p>
            <a:r>
              <a:rPr lang="en-US"/>
              <a:t>1. How does temperature affect the solubility of sugar in water?</a:t>
            </a:r>
          </a:p>
          <a:p>
            <a:r>
              <a:rPr lang="en-US"/>
              <a:t>Answer: As the temperature of water increases, the solubility of sugar also increases.</a:t>
            </a:r>
          </a:p>
          <a:p>
            <a:r>
              <a:rPr lang="en-US"/>
              <a:t>2. Why does sugar dissolve faster in hot water than in cold water?</a:t>
            </a:r>
          </a:p>
          <a:p>
            <a:r>
              <a:rPr lang="en-US"/>
              <a:t>Answer: Sugar dissolves faster in hot water because water molecules move faster at higher temperatures.</a:t>
            </a:r>
          </a:p>
          <a:p>
            <a:r>
              <a:rPr lang="en-US"/>
              <a:t>3. Does increasing the temperature of water increase the amount of sugar that can dissolve?</a:t>
            </a:r>
          </a:p>
          <a:p>
            <a:r>
              <a:rPr lang="en-US"/>
              <a:t>Answer: Yes, increasing the temperature allows more sugar to dissolve in water.</a:t>
            </a:r>
          </a:p>
          <a:p>
            <a:r>
              <a:rPr lang="en-US"/>
              <a:t>4. What happens to the solubility of sugar when the temperature decreases?</a:t>
            </a:r>
          </a:p>
          <a:p>
            <a:r>
              <a:rPr lang="en-US"/>
              <a:t>Answer: When the temperature decreases, the solubility of sugar decreases.</a:t>
            </a:r>
          </a:p>
          <a:p>
            <a:r>
              <a:rPr lang="en-US"/>
              <a:t>5. At which temperature does the greatest amount of sugar dissolve in water?</a:t>
            </a:r>
          </a:p>
          <a:p>
            <a:r>
              <a:rPr lang="en-US"/>
              <a:t>Answer: The greatest amount of sugar dissolves at the highest temperature tested.</a:t>
            </a:r>
          </a:p>
          <a:p>
            <a:r>
              <a:rPr lang="en-US"/>
              <a:t>6. What is the relationship between temperature and sugar solubility?</a:t>
            </a:r>
          </a:p>
          <a:p>
            <a:r>
              <a:rPr lang="en-US"/>
              <a:t>Answer: Temperature and sugar solubility have a positive relationship. As temperature increases, solubility increases.</a:t>
            </a:r>
          </a:p>
          <a:p>
            <a:r>
              <a:rPr lang="en-US"/>
              <a:t>7. Why can hot water dissolve more sugar than cold water?</a:t>
            </a:r>
          </a:p>
          <a:p>
            <a:r>
              <a:rPr lang="en-US"/>
              <a:t>Answer: Hot water has more thermal energy, which helps more sugar dissolve.</a:t>
            </a:r>
          </a:p>
          <a:p>
            <a:r>
              <a:rPr lang="en-US"/>
              <a:t>8. How does temperature affect the time taken for sugar to dissolve?</a:t>
            </a:r>
          </a:p>
          <a:p>
            <a:r>
              <a:rPr lang="en-US"/>
              <a:t>Answer: Sugar usually dissolves faster at higher temperatures, so it takes less time.</a:t>
            </a:r>
          </a:p>
          <a:p>
            <a:endParaRPr lang="en-US" dirty="0"/>
          </a:p>
        </p:txBody>
      </p:sp>
    </p:spTree>
    <p:extLst>
      <p:ext uri="{BB962C8B-B14F-4D97-AF65-F5344CB8AC3E}">
        <p14:creationId xmlns:p14="http://schemas.microsoft.com/office/powerpoint/2010/main" val="3868264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ecdbbde9a2_0_13"/>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solidFill>
                  <a:srgbClr val="90C226"/>
                </a:solidFill>
              </a:rPr>
              <a:t>scientific principle</a:t>
            </a:r>
            <a:r>
              <a:rPr lang="en-US" sz="1100">
                <a:solidFill>
                  <a:schemeClr val="dk1"/>
                </a:solidFill>
                <a:latin typeface="Arial"/>
                <a:ea typeface="Arial"/>
                <a:cs typeface="Arial"/>
                <a:sym typeface="Arial"/>
              </a:rPr>
              <a:t> </a:t>
            </a:r>
            <a:endParaRPr/>
          </a:p>
        </p:txBody>
      </p:sp>
      <p:sp>
        <p:nvSpPr>
          <p:cNvPr id="199" name="Google Shape;199;g3ecdbbde9a2_0_13"/>
          <p:cNvSpPr txBox="1">
            <a:spLocks noGrp="1"/>
          </p:cNvSpPr>
          <p:nvPr>
            <p:ph type="body" idx="1"/>
          </p:nvPr>
        </p:nvSpPr>
        <p:spPr>
          <a:xfrm>
            <a:off x="677334" y="2160589"/>
            <a:ext cx="8596800" cy="3880800"/>
          </a:xfrm>
          <a:prstGeom prst="rect">
            <a:avLst/>
          </a:prstGeom>
        </p:spPr>
        <p:txBody>
          <a:bodyPr spcFirstLastPara="1" wrap="square" lIns="91425" tIns="45700" rIns="91425" bIns="45700" anchor="t" anchorCtr="0">
            <a:normAutofit/>
          </a:bodyPr>
          <a:lstStyle/>
          <a:p>
            <a:pPr marL="457200" lvl="0" indent="-320040" algn="l" rtl="0">
              <a:lnSpc>
                <a:spcPct val="115000"/>
              </a:lnSpc>
              <a:spcBef>
                <a:spcPts val="1000"/>
              </a:spcBef>
              <a:spcAft>
                <a:spcPts val="0"/>
              </a:spcAft>
              <a:buClr>
                <a:srgbClr val="404040"/>
              </a:buClr>
              <a:buSzPts val="1440"/>
              <a:buChar char="-"/>
            </a:pPr>
            <a:r>
              <a:rPr lang="en-US" b="1">
                <a:solidFill>
                  <a:srgbClr val="404040"/>
                </a:solidFill>
              </a:rPr>
              <a:t>Solubility</a:t>
            </a:r>
            <a:r>
              <a:rPr lang="en-US">
                <a:solidFill>
                  <a:srgbClr val="404040"/>
                </a:solidFill>
              </a:rPr>
              <a:t> is the ability of a substance to dissolve in a solvent. Higher temperatures increase the movement of water molecules, allowing sugar to dissolve faster and in greater amounts.</a:t>
            </a:r>
            <a:endParaRPr>
              <a:solidFill>
                <a:srgbClr val="404040"/>
              </a:solidFill>
            </a:endParaRPr>
          </a:p>
          <a:p>
            <a:pPr marL="0" lvl="0" indent="0" algn="l" rtl="0">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636</Words>
  <Application>Microsoft Office PowerPoint</Application>
  <PresentationFormat>Widescreen</PresentationFormat>
  <Paragraphs>85</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Noto Sans Symbols</vt:lpstr>
      <vt:lpstr>Trebuchet MS</vt:lpstr>
      <vt:lpstr>Facet</vt:lpstr>
      <vt:lpstr>Chemistry project work</vt:lpstr>
      <vt:lpstr>Group member </vt:lpstr>
      <vt:lpstr>Group member </vt:lpstr>
      <vt:lpstr>Objectives </vt:lpstr>
      <vt:lpstr>Background information </vt:lpstr>
      <vt:lpstr>Materials Required</vt:lpstr>
      <vt:lpstr>Variables</vt:lpstr>
      <vt:lpstr>Procedure</vt:lpstr>
      <vt:lpstr>Observation table </vt:lpstr>
      <vt:lpstr>Conclusion </vt:lpstr>
      <vt:lpstr>Research question and answer</vt:lpstr>
      <vt:lpstr>scientific principle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Chemistry project work</dc:title>
  <dc:creator>CLASS-09</dc:creator>
  <cp:lastModifiedBy>CLASS-09</cp:lastModifiedBy>
  <cp:revision>6</cp:revision>
  <dcterms:created xsi:type="dcterms:W3CDTF">2026-05-15T04:59:51Z</dcterms:created>
  <dcterms:modified xsi:type="dcterms:W3CDTF">2026-10-13T08:07:51Z</dcterms:modified>
</cp:coreProperties>
</file>